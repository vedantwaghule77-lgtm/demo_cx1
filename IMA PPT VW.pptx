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51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53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964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07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137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56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70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25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712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88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31692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82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4486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52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027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33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334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Natural_environment" TargetMode="External"/><Relationship Id="rId3" Type="http://schemas.openxmlformats.org/officeDocument/2006/relationships/hyperlink" Target="https://en.wikipedia.org/wiki/Food" TargetMode="External"/><Relationship Id="rId7" Type="http://schemas.openxmlformats.org/officeDocument/2006/relationships/hyperlink" Target="https://en.wikipedia.org/wiki/Biology" TargetMode="External"/><Relationship Id="rId2" Type="http://schemas.openxmlformats.org/officeDocument/2006/relationships/hyperlink" Target="https://en.wikipedia.org/wiki/Analytical_chemistr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High-performance_liquid_chromatography#cite_note-1" TargetMode="External"/><Relationship Id="rId5" Type="http://schemas.openxmlformats.org/officeDocument/2006/relationships/hyperlink" Target="https://en.wikipedia.org/wiki/Pharmaceuticals" TargetMode="External"/><Relationship Id="rId4" Type="http://schemas.openxmlformats.org/officeDocument/2006/relationships/hyperlink" Target="https://en.wikipedia.org/wiki/Chemical_substance" TargetMode="External"/><Relationship Id="rId9" Type="http://schemas.openxmlformats.org/officeDocument/2006/relationships/hyperlink" Target="https://en.wikipedia.org/wiki/Agriculture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B852B-DEB1-93ED-686A-72B9770F39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2568" y="275304"/>
            <a:ext cx="8167277" cy="4316361"/>
          </a:xfrm>
        </p:spPr>
        <p:txBody>
          <a:bodyPr>
            <a:normAutofit fontScale="90000"/>
          </a:bodyPr>
          <a:lstStyle/>
          <a:p>
            <a:r>
              <a:rPr lang="en-US" sz="2000" b="1" dirty="0">
                <a:latin typeface="Arial Rounded MT Bold" panose="020F0704030504030204" pitchFamily="34" charset="0"/>
              </a:rPr>
              <a:t>                                    </a:t>
            </a: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r>
              <a:rPr lang="en-US" sz="2000" b="1" dirty="0">
                <a:latin typeface="Arial Rounded MT Bold" panose="020F0704030504030204" pitchFamily="34" charset="0"/>
              </a:rPr>
              <a:t>    </a:t>
            </a:r>
            <a:br>
              <a:rPr lang="en-US" sz="2000" b="1" dirty="0">
                <a:latin typeface="Arial Rounded MT Bold" panose="020F0704030504030204" pitchFamily="34" charset="0"/>
              </a:rPr>
            </a:br>
            <a:r>
              <a:rPr lang="en-US" sz="2000" b="1" dirty="0">
                <a:latin typeface="Arial Rounded MT Bold" panose="020F0704030504030204" pitchFamily="34" charset="0"/>
              </a:rPr>
              <a:t>                                              S.S.P   </a:t>
            </a:r>
            <a:r>
              <a:rPr lang="en-US" sz="2000" b="1" dirty="0" err="1">
                <a:latin typeface="Arial Rounded MT Bold" panose="020F0704030504030204" pitchFamily="34" charset="0"/>
              </a:rPr>
              <a:t>Shikshan</a:t>
            </a:r>
            <a:r>
              <a:rPr lang="en-US" sz="2000" b="1" dirty="0">
                <a:latin typeface="Arial Rounded MT Bold" panose="020F0704030504030204" pitchFamily="34" charset="0"/>
              </a:rPr>
              <a:t>  Sanstha’s </a:t>
            </a:r>
            <a:br>
              <a:rPr lang="en-US" sz="2000" b="1" dirty="0">
                <a:latin typeface="Arial Rounded MT Bold" panose="020F0704030504030204" pitchFamily="34" charset="0"/>
              </a:rPr>
            </a:br>
            <a:r>
              <a:rPr lang="en-US" sz="2000" b="1" dirty="0">
                <a:latin typeface="Arial Black" panose="020B0A04020102020204" pitchFamily="34" charset="0"/>
              </a:rPr>
              <a:t>          </a:t>
            </a:r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SIDDHI COLLEGE OF PHARMACY </a:t>
            </a:r>
            <a:br>
              <a:rPr lang="en-US" sz="2000" b="1" dirty="0">
                <a:latin typeface="Arial Rounded MT Bold" panose="020F0704030504030204" pitchFamily="34" charset="0"/>
              </a:rPr>
            </a:br>
            <a:r>
              <a:rPr lang="en-US" sz="1800" b="1" dirty="0">
                <a:latin typeface="Arial Rounded MT Bold" panose="020F0704030504030204" pitchFamily="34" charset="0"/>
              </a:rPr>
              <a:t>                                            </a:t>
            </a:r>
            <a:r>
              <a:rPr lang="en-US" sz="1800" b="1" dirty="0" err="1">
                <a:latin typeface="Arial Rounded MT Bold" panose="020F0704030504030204" pitchFamily="34" charset="0"/>
              </a:rPr>
              <a:t>Newale</a:t>
            </a:r>
            <a:r>
              <a:rPr lang="en-US" sz="1800" b="1" dirty="0">
                <a:latin typeface="Arial Rounded MT Bold" panose="020F0704030504030204" pitchFamily="34" charset="0"/>
              </a:rPr>
              <a:t>  Vasti,  </a:t>
            </a:r>
            <a:r>
              <a:rPr lang="en-US" sz="1800" b="1" dirty="0" err="1">
                <a:latin typeface="Arial Rounded MT Bold" panose="020F0704030504030204" pitchFamily="34" charset="0"/>
              </a:rPr>
              <a:t>Chikhali</a:t>
            </a:r>
            <a:r>
              <a:rPr lang="en-US" sz="1800" b="1" dirty="0">
                <a:latin typeface="Arial Rounded MT Bold" panose="020F0704030504030204" pitchFamily="34" charset="0"/>
              </a:rPr>
              <a:t>  , Pune – 411062  </a:t>
            </a:r>
            <a:br>
              <a:rPr lang="en-US" sz="18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br>
              <a:rPr lang="en-US" sz="2000" b="1" dirty="0">
                <a:latin typeface="Arial Rounded MT Bold" panose="020F0704030504030204" pitchFamily="34" charset="0"/>
              </a:rPr>
            </a:br>
            <a:endParaRPr lang="en-IN" sz="20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1956E-8134-1FBA-582E-16AC28905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4246" y="4100053"/>
            <a:ext cx="8915399" cy="1862604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NAME : Vedant Santosh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Waghule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                            CLASS : Final Year  B .Pharma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SUBJECT: Instrumental Method Of Analysis              ROLL.NO : 457 </a:t>
            </a:r>
          </a:p>
          <a:p>
            <a:r>
              <a:rPr lang="en-US" dirty="0"/>
              <a:t>                                                                                     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Baskerville Old Face" panose="02020602080505020303" pitchFamily="18" charset="0"/>
              </a:rPr>
              <a:t>                               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THIRD CONTINUOUS MODE EXAM 2024-25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325207-228F-9DEE-1635-530D94AF5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115" y="280219"/>
            <a:ext cx="3057833" cy="215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9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8DFDF-1764-E7A9-DFD9-9BAADAAB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 Rounded MT Bold" panose="020F0704030504030204" pitchFamily="34" charset="0"/>
              </a:rPr>
              <a:t>                                INDEX </a:t>
            </a:r>
            <a:r>
              <a:rPr lang="en-US" dirty="0"/>
              <a:t>                                                       </a:t>
            </a:r>
            <a:r>
              <a:rPr lang="en-US" b="1" dirty="0"/>
              <a:t> </a:t>
            </a:r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92F5-8126-6707-D7D1-2EE4E1F95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26920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b="1" dirty="0"/>
              <a:t>Definition</a:t>
            </a:r>
          </a:p>
          <a:p>
            <a:r>
              <a:rPr lang="en-US" sz="2000" b="1" dirty="0"/>
              <a:t>Advantages </a:t>
            </a:r>
          </a:p>
          <a:p>
            <a:r>
              <a:rPr lang="en-US" sz="2000" b="1" dirty="0"/>
              <a:t>Applications 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833031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61867-7BEE-D160-05E4-CFE9F950D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Arial Rounded MT Bold" panose="020F0704030504030204" pitchFamily="34" charset="0"/>
              </a:rPr>
              <a:t>HIGH PERFORMANCE LIQUID CHROMATOGRAPHY </a:t>
            </a:r>
            <a:endParaRPr lang="en-IN" sz="2800" b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DE685-7696-FADE-2E2A-1A1AC5234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DEFINATION</a:t>
            </a:r>
            <a:r>
              <a:rPr lang="en-US" dirty="0"/>
              <a:t> :</a:t>
            </a:r>
          </a:p>
          <a:p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High-performance liquid chromatography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HPLC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formerly referred to as </a:t>
            </a:r>
            <a:r>
              <a:rPr lang="en-US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high-pressure liquid chromatography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is a technique in </a:t>
            </a:r>
            <a:r>
              <a:rPr lang="en-US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 tooltip="Analytical chemist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analytical chemistry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used to separate, identify, and quantify specific components in mixtures. The mixtures can originate from </a:t>
            </a:r>
            <a:r>
              <a:rPr lang="en-US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3" tooltip="Foo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food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 tooltip="Chemical substa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chemicals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5" tooltip="Pharmaceutica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pharmaceuticals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b="0" i="0" u="none" strike="noStrike" baseline="30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7" tooltip="Biolog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biological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8" tooltip="Natural environ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environmental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US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9" tooltip="Agricul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agriculture</a:t>
            </a:r>
            <a:r>
              <a:rPr lang="en-US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etc., which have been dissolved into liquid solutions.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3994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CF865-2957-0BA6-555C-9E10F097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                        ADVANTAGES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C4E4A-41B8-D476-60CC-28D403026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Greater sensitivity (various detectors can be employed)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Improved resolution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Easy sample recovery (less eluent volume to remove)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wide variety of stationary phases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accuracy in separation of analytes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Reproducibility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111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Quick, automated, and simple data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1797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3971-AF9B-50F8-C897-0FC6CB7AC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                         ADVANTAGES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C1F49-08F4-C3C9-749C-9957C3934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C2C2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precision</a:t>
            </a:r>
            <a:r>
              <a:rPr lang="en-US" b="0" i="0" dirty="0">
                <a:solidFill>
                  <a:srgbClr val="2C2C2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– HPLC (High-Performance Liquid Chromatography) is a highly precise method of separating and analyzing different components in a mixture.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C2C2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sensitivity</a:t>
            </a:r>
            <a:r>
              <a:rPr lang="en-US" b="0" i="0" dirty="0">
                <a:solidFill>
                  <a:srgbClr val="2C2C2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– HPLC can detect and measure very small amounts of a substance, making it an ideal technique for detecting trace impurities or contaminants.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C2C2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Wide range of applications</a:t>
            </a:r>
            <a:r>
              <a:rPr lang="en-US" b="0" i="0" dirty="0">
                <a:solidFill>
                  <a:srgbClr val="2C2C2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– HPLC can be used to analyze a wide variety of substances, including drugs, proteins, and environmental pollutants.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C2C2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Cost-effective</a:t>
            </a:r>
            <a:r>
              <a:rPr lang="en-US" b="0" i="0" dirty="0">
                <a:solidFill>
                  <a:srgbClr val="2C2C2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– HPLC is relatively cost-effective when compared to other analytical techniques, making it accessible to many laboratories.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C2C2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Speed</a:t>
            </a:r>
            <a:r>
              <a:rPr lang="en-US" b="0" i="0" dirty="0">
                <a:solidFill>
                  <a:srgbClr val="2C2C2C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– HPLC can separate and analyze a sample quickly, which is beneficial for time-sensitive research or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20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359A-D195-AF53-020E-2F8AAEA2A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Rounded MT Bold" panose="020F0704030504030204" pitchFamily="34" charset="0"/>
              </a:rPr>
              <a:t>                        APPLICATIONS</a:t>
            </a:r>
            <a:endParaRPr lang="en-IN" b="1" dirty="0">
              <a:latin typeface="Arial Rounded MT Bold" panose="020F07040305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3B1031-75DF-CB27-7BD1-964B65C1EF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01530" tIns="238050" rIns="0" bIns="249159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3366FF"/>
                </a:solidFill>
                <a:effectLst/>
                <a:latin typeface="Helvetica" panose="020B0604020202020204" pitchFamily="34" charset="0"/>
              </a:rPr>
              <a:t> Pharmaceutical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To test the quality of drugs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To detect impurities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Manufacturing of pharmaceutical drugs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To monitor the progress of a therapy of a disease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Qualitative and quantitative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Evaluating formulations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Monitoring changes during scale-up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Helps in tablet dissolution study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To control drug stability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3366FF"/>
                </a:solidFill>
                <a:effectLst/>
                <a:latin typeface="Helvetica" panose="020B0604020202020204" pitchFamily="34" charset="0"/>
              </a:rPr>
              <a:t>2. Environmental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Analytical control of pollutants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Detection of phenolic compounds in drinking water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Analyzing air pollution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Oil spills analyzing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Analyzing plastic pollution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3366FF"/>
                </a:solidFill>
                <a:effectLst/>
                <a:latin typeface="Helvetica" panose="020B0604020202020204" pitchFamily="34" charset="0"/>
              </a:rPr>
              <a:t>3. Food and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3366FF"/>
                </a:solidFill>
                <a:effectLst/>
                <a:latin typeface="Helvetica" panose="020B0604020202020204" pitchFamily="34" charset="0"/>
              </a:rPr>
              <a:t>Flavour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3366FF"/>
              </a:solidFill>
              <a:effectLst/>
              <a:latin typeface="Helvetica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Quality check for soft drinks and water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Sugar analysis in fruit juices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Preservative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Polycyclic compound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Used to separate various ingredients, contaminants, and additives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3366FF"/>
                </a:solidFill>
                <a:effectLst/>
                <a:latin typeface="Helvetica" panose="020B0604020202020204" pitchFamily="34" charset="0"/>
              </a:rPr>
              <a:t>4. Applications in Forensics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Identification and quantification of drugs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Forensic analysis of textile dyes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Determination of cocaine and other drugs in blood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Help to analyze volatile substances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To determine the material used in explosives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3366FF"/>
                </a:solidFill>
                <a:effectLst/>
                <a:latin typeface="Helvetica" panose="020B0604020202020204" pitchFamily="34" charset="0"/>
              </a:rPr>
              <a:t>5. Applications in Clinical Tests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To determine illicit drugs in urine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Antibiotics analysis in blood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Nutrient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383838"/>
                </a:solidFill>
                <a:effectLst/>
                <a:latin typeface="Georgia" panose="02040502050405020303" pitchFamily="18" charset="0"/>
              </a:rPr>
              <a:t>In hepatic disorders, for analysis of bilirubin, and biliverdin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36333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457</TotalTime>
  <Words>478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Arial Black</vt:lpstr>
      <vt:lpstr>Arial Rounded MT Bold</vt:lpstr>
      <vt:lpstr>Baskerville Old Face</vt:lpstr>
      <vt:lpstr>Century Gothic</vt:lpstr>
      <vt:lpstr>Georgia</vt:lpstr>
      <vt:lpstr>Helvetica</vt:lpstr>
      <vt:lpstr>Wingdings 3</vt:lpstr>
      <vt:lpstr>Wisp</vt:lpstr>
      <vt:lpstr>                                                                                                     S.S.P   Shikshan  Sanstha’s            SIDDHI COLLEGE OF PHARMACY                                              Newale  Vasti,  Chikhali  , Pune – 411062     </vt:lpstr>
      <vt:lpstr>                                INDEX                                                             </vt:lpstr>
      <vt:lpstr>HIGH PERFORMANCE LIQUID CHROMATOGRAPHY </vt:lpstr>
      <vt:lpstr>                        ADVANTAGES</vt:lpstr>
      <vt:lpstr>                         ADVANTAGES</vt:lpstr>
      <vt:lpstr>                       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vedantwaghule77@outlook.com</dc:creator>
  <cp:lastModifiedBy>vedantwaghule77@outlook.com</cp:lastModifiedBy>
  <cp:revision>1</cp:revision>
  <dcterms:created xsi:type="dcterms:W3CDTF">2024-10-13T07:43:21Z</dcterms:created>
  <dcterms:modified xsi:type="dcterms:W3CDTF">2024-10-13T15:23:52Z</dcterms:modified>
</cp:coreProperties>
</file>